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T Sans" charset="1" panose="020B0503020203020204"/>
      <p:regular r:id="rId17"/>
    </p:embeddedFont>
    <p:embeddedFont>
      <p:font typeface="HK Modular" charset="1" panose="00000800000000000000"/>
      <p:regular r:id="rId18"/>
    </p:embeddedFont>
    <p:embeddedFont>
      <p:font typeface="Dynamo Condensed Bold" charset="1" panose="020B080402020A0604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gif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1398923" y="0"/>
            <a:ext cx="10771728" cy="10287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9372805" y="0"/>
            <a:ext cx="10771728" cy="10287000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832710" y="6941036"/>
            <a:ext cx="5062953" cy="4114800"/>
          </a:xfrm>
          <a:custGeom>
            <a:avLst/>
            <a:gdLst/>
            <a:ahLst/>
            <a:cxnLst/>
            <a:rect r="r" b="b" t="t" l="l"/>
            <a:pathLst>
              <a:path h="4114800" w="5062953">
                <a:moveTo>
                  <a:pt x="0" y="0"/>
                </a:moveTo>
                <a:lnTo>
                  <a:pt x="5062953" y="0"/>
                </a:lnTo>
                <a:lnTo>
                  <a:pt x="50629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02014" y="9210675"/>
            <a:ext cx="11473419" cy="46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  <a:spcBef>
                <a:spcPct val="0"/>
              </a:spcBef>
            </a:pPr>
            <a:r>
              <a:rPr lang="en-US" sz="2768" spc="260">
                <a:solidFill>
                  <a:srgbClr val="61CDD4"/>
                </a:solidFill>
                <a:latin typeface="PT Sans"/>
                <a:ea typeface="PT Sans"/>
                <a:cs typeface="PT Sans"/>
                <a:sym typeface="PT Sans"/>
              </a:rPr>
              <a:t>Acuña, Vega, Ocampo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37519" y="731065"/>
            <a:ext cx="7012962" cy="7025736"/>
          </a:xfrm>
          <a:custGeom>
            <a:avLst/>
            <a:gdLst/>
            <a:ahLst/>
            <a:cxnLst/>
            <a:rect r="r" b="b" t="t" l="l"/>
            <a:pathLst>
              <a:path h="7025736" w="7012962">
                <a:moveTo>
                  <a:pt x="0" y="0"/>
                </a:moveTo>
                <a:lnTo>
                  <a:pt x="7012962" y="0"/>
                </a:lnTo>
                <a:lnTo>
                  <a:pt x="7012962" y="7025736"/>
                </a:lnTo>
                <a:lnTo>
                  <a:pt x="0" y="7025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92619" y="1395101"/>
            <a:ext cx="6102763" cy="6172200"/>
          </a:xfrm>
          <a:custGeom>
            <a:avLst/>
            <a:gdLst/>
            <a:ahLst/>
            <a:cxnLst/>
            <a:rect r="r" b="b" t="t" l="l"/>
            <a:pathLst>
              <a:path h="6172200" w="6102763">
                <a:moveTo>
                  <a:pt x="0" y="0"/>
                </a:moveTo>
                <a:lnTo>
                  <a:pt x="6102762" y="0"/>
                </a:lnTo>
                <a:lnTo>
                  <a:pt x="610276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70178" y="3388369"/>
            <a:ext cx="11005255" cy="855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6"/>
              </a:lnSpc>
              <a:spcBef>
                <a:spcPct val="0"/>
              </a:spcBef>
            </a:pPr>
            <a:r>
              <a:rPr lang="en-US" b="true" sz="7445">
                <a:solidFill>
                  <a:srgbClr val="61CDD4">
                    <a:alpha val="89804"/>
                  </a:srgbClr>
                </a:solidFill>
                <a:latin typeface="HK Modular"/>
                <a:ea typeface="HK Modular"/>
                <a:cs typeface="HK Modular"/>
                <a:sym typeface="HK Modular"/>
              </a:rPr>
              <a:t>PRESENTACION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41828" y="4852676"/>
            <a:ext cx="9204345" cy="112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0"/>
              </a:lnSpc>
              <a:spcBef>
                <a:spcPct val="0"/>
              </a:spcBef>
            </a:pPr>
            <a:r>
              <a:rPr lang="en-US" b="true" sz="9851">
                <a:solidFill>
                  <a:srgbClr val="C1FF72">
                    <a:alpha val="89804"/>
                  </a:srgbClr>
                </a:solidFill>
                <a:latin typeface="HK Modular"/>
                <a:ea typeface="HK Modular"/>
                <a:cs typeface="HK Modular"/>
                <a:sym typeface="HK Modular"/>
              </a:rPr>
              <a:t>N°5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11037055" y="6941036"/>
            <a:ext cx="5062953" cy="4114800"/>
          </a:xfrm>
          <a:custGeom>
            <a:avLst/>
            <a:gdLst/>
            <a:ahLst/>
            <a:cxnLst/>
            <a:rect r="r" b="b" t="t" l="l"/>
            <a:pathLst>
              <a:path h="4114800" w="5062953">
                <a:moveTo>
                  <a:pt x="5062953" y="0"/>
                </a:moveTo>
                <a:lnTo>
                  <a:pt x="0" y="0"/>
                </a:lnTo>
                <a:lnTo>
                  <a:pt x="0" y="4114800"/>
                </a:lnTo>
                <a:lnTo>
                  <a:pt x="5062953" y="4114800"/>
                </a:lnTo>
                <a:lnTo>
                  <a:pt x="50629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424827"/>
            <a:ext cx="8746073" cy="1417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3"/>
              </a:lnSpc>
            </a:pPr>
            <a:r>
              <a:rPr lang="en-US" sz="3260" spc="306">
                <a:solidFill>
                  <a:srgbClr val="61CDD4"/>
                </a:solidFill>
                <a:latin typeface="PT Sans"/>
                <a:ea typeface="PT Sans"/>
                <a:cs typeface="PT Sans"/>
                <a:sym typeface="PT Sans"/>
              </a:rPr>
              <a:t>CASE = Ingeniería de Software Asistida por Computadora.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479234" y="68953"/>
            <a:ext cx="19246468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61CDD4"/>
                </a:solidFill>
                <a:latin typeface="Dynamo Condensed Bold"/>
                <a:ea typeface="Dynamo Condensed Bold"/>
                <a:cs typeface="Dynamo Condensed Bold"/>
                <a:sym typeface="Dynamo Condensed Bold"/>
              </a:rPr>
              <a:t>USO DE HERRAMIENTAS  CASE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11296"/>
            <a:ext cx="6950263" cy="563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1749" indent="-235875" lvl="1">
              <a:lnSpc>
                <a:spcPts val="2840"/>
              </a:lnSpc>
              <a:buFont typeface="Arial"/>
              <a:buChar char="•"/>
            </a:pPr>
            <a:r>
              <a:rPr lang="en-US" sz="2185" spc="10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Son programas creados específicamente para ayudar a los analistas a diseñar sistemas sin errores y de forma automática.</a:t>
            </a:r>
          </a:p>
          <a:p>
            <a:pPr algn="l">
              <a:lnSpc>
                <a:spcPts val="2840"/>
              </a:lnSpc>
            </a:pPr>
          </a:p>
          <a:p>
            <a:pPr algn="l" marL="471749" indent="-235875" lvl="1">
              <a:lnSpc>
                <a:spcPts val="2840"/>
              </a:lnSpc>
              <a:buFont typeface="Arial"/>
              <a:buChar char="•"/>
            </a:pPr>
            <a:r>
              <a:rPr lang="en-US" sz="2185" spc="10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Hacer más en menos tiempo: Automatizan tareas repetitivas para que el trabajo rinda más.</a:t>
            </a:r>
          </a:p>
          <a:p>
            <a:pPr algn="l">
              <a:lnSpc>
                <a:spcPts val="2840"/>
              </a:lnSpc>
            </a:pPr>
          </a:p>
          <a:p>
            <a:pPr algn="l" marL="471749" indent="-235875" lvl="1">
              <a:lnSpc>
                <a:spcPts val="2840"/>
              </a:lnSpc>
              <a:buFont typeface="Arial"/>
              <a:buChar char="•"/>
            </a:pPr>
            <a:r>
              <a:rPr lang="en-US" sz="2185" spc="10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Hablar el mismo idioma: Ayudan a que el analista y el cliente se entiendan usando gráficos (como diagramas) en lugar de solo texto.</a:t>
            </a:r>
          </a:p>
          <a:p>
            <a:pPr algn="l">
              <a:lnSpc>
                <a:spcPts val="2840"/>
              </a:lnSpc>
            </a:pPr>
          </a:p>
          <a:p>
            <a:pPr algn="l" marL="471749" indent="-235875" lvl="1">
              <a:lnSpc>
                <a:spcPts val="2840"/>
              </a:lnSpc>
              <a:buFont typeface="Arial"/>
              <a:buChar char="•"/>
            </a:pPr>
            <a:r>
              <a:rPr lang="en-US" sz="2185" spc="10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Tener todo organizado: Unen todas las partes del proyecto (desde el inicio al fin) en un solo lugar.</a:t>
            </a:r>
          </a:p>
          <a:p>
            <a:pPr algn="l">
              <a:lnSpc>
                <a:spcPts val="284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337371" y="2842035"/>
            <a:ext cx="6921929" cy="5864799"/>
          </a:xfrm>
          <a:custGeom>
            <a:avLst/>
            <a:gdLst/>
            <a:ahLst/>
            <a:cxnLst/>
            <a:rect r="r" b="b" t="t" l="l"/>
            <a:pathLst>
              <a:path h="5864799" w="6921929">
                <a:moveTo>
                  <a:pt x="0" y="0"/>
                </a:moveTo>
                <a:lnTo>
                  <a:pt x="6921929" y="0"/>
                </a:lnTo>
                <a:lnTo>
                  <a:pt x="6921929" y="5864799"/>
                </a:lnTo>
                <a:lnTo>
                  <a:pt x="0" y="5864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012" r="0" b="-9012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43338" y="771525"/>
            <a:ext cx="5820699" cy="9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2"/>
              </a:lnSpc>
            </a:pPr>
            <a:r>
              <a:rPr lang="en-US" sz="4821" spc="453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CASE INFERIOR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05760" y="771525"/>
            <a:ext cx="5013173" cy="98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2"/>
              </a:lnSpc>
            </a:pPr>
            <a:r>
              <a:rPr lang="en-US" sz="4821" spc="453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CASE SUPERIOR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43338" y="2499502"/>
            <a:ext cx="6326230" cy="54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2127" spc="10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 usa al final / construcción: genera código de programación automáticamente, no requiere escribir todo el código a mano.</a:t>
            </a:r>
          </a:p>
          <a:p>
            <a:pPr algn="l">
              <a:lnSpc>
                <a:spcPts val="2765"/>
              </a:lnSpc>
            </a:pPr>
            <a:r>
              <a:rPr lang="en-US" sz="2127" spc="10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​</a:t>
            </a:r>
          </a:p>
          <a:p>
            <a:pPr algn="l">
              <a:lnSpc>
                <a:spcPts val="2765"/>
              </a:lnSpc>
            </a:pPr>
            <a:r>
              <a:rPr lang="en-US" sz="2127" spc="10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Ventajas:</a:t>
            </a:r>
          </a:p>
          <a:p>
            <a:pPr algn="l">
              <a:lnSpc>
                <a:spcPts val="2765"/>
              </a:lnSpc>
            </a:pPr>
            <a:r>
              <a:rPr lang="en-US" sz="2127" spc="10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​</a:t>
            </a:r>
          </a:p>
          <a:p>
            <a:pPr algn="l" marL="459324" indent="-229662" lvl="1">
              <a:lnSpc>
                <a:spcPts val="2765"/>
              </a:lnSpc>
              <a:buFont typeface="Arial"/>
              <a:buChar char="•"/>
            </a:pPr>
            <a:r>
              <a:rPr lang="en-US" sz="2127" spc="10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 produce código mucho más rápido.</a:t>
            </a:r>
          </a:p>
          <a:p>
            <a:pPr algn="l" marL="459324" indent="-229662" lvl="1">
              <a:lnSpc>
                <a:spcPts val="2765"/>
              </a:lnSpc>
              <a:buFont typeface="Arial"/>
              <a:buChar char="•"/>
            </a:pPr>
            <a:r>
              <a:rPr lang="en-US" sz="2127" spc="10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Menos tiempo de mantenimiento.</a:t>
            </a:r>
          </a:p>
          <a:p>
            <a:pPr algn="l" marL="459324" indent="-229662" lvl="1">
              <a:lnSpc>
                <a:spcPts val="2765"/>
              </a:lnSpc>
              <a:buFont typeface="Arial"/>
              <a:buChar char="•"/>
            </a:pPr>
            <a:r>
              <a:rPr lang="en-US" sz="2127" spc="10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Código estándar, sin errores típicos de escritura.</a:t>
            </a:r>
          </a:p>
          <a:p>
            <a:pPr algn="l" marL="459324" indent="-229662" lvl="1">
              <a:lnSpc>
                <a:spcPts val="2765"/>
              </a:lnSpc>
              <a:buFont typeface="Arial"/>
              <a:buChar char="•"/>
            </a:pPr>
            <a:r>
              <a:rPr lang="en-US" sz="2127" spc="10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Funciona en cualquier plataforma (Windows, web, móvil).</a:t>
            </a:r>
          </a:p>
          <a:p>
            <a:pPr algn="l" marL="459324" indent="-229662" lvl="1">
              <a:lnSpc>
                <a:spcPts val="2765"/>
              </a:lnSpc>
              <a:buFont typeface="Arial"/>
              <a:buChar char="•"/>
            </a:pPr>
            <a:r>
              <a:rPr lang="en-US" sz="2127" spc="10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 adapta a necesidades específicas de la empresa.</a:t>
            </a:r>
          </a:p>
          <a:p>
            <a:pPr algn="l" marL="459324" indent="-229662" lvl="1">
              <a:lnSpc>
                <a:spcPts val="2765"/>
              </a:lnSpc>
              <a:buFont typeface="Arial"/>
              <a:buChar char="•"/>
            </a:pPr>
            <a:r>
              <a:rPr lang="en-US" sz="2127" spc="10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Sin errores comunes que cometen los programadores.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05760" y="2499502"/>
            <a:ext cx="4795391" cy="634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595" indent="-237797" lvl="1">
              <a:lnSpc>
                <a:spcPts val="2863"/>
              </a:lnSpc>
              <a:buFont typeface="Arial"/>
              <a:buChar char="•"/>
            </a:pPr>
            <a:r>
              <a:rPr lang="en-US" sz="2202" spc="11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 usa al inicio del proyecto: planificación, análisis, diseño. Guarda toda la información (modelos, diagramas, pantallas, informes, requisitos) en un REPOSITORIO (una base de datos interna)</a:t>
            </a:r>
          </a:p>
          <a:p>
            <a:pPr algn="l">
              <a:lnSpc>
                <a:spcPts val="2863"/>
              </a:lnSpc>
            </a:pPr>
          </a:p>
          <a:p>
            <a:pPr algn="l" marL="475595" indent="-237797" lvl="1">
              <a:lnSpc>
                <a:spcPts val="2863"/>
              </a:lnSpc>
              <a:buFont typeface="Arial"/>
              <a:buChar char="•"/>
            </a:pPr>
            <a:r>
              <a:rPr lang="en-US" sz="2202" spc="11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Función: Sostener requisitos funcionales, ayudar a visualizar cómo funcionará el sistema, poner límites al proyecto.</a:t>
            </a:r>
          </a:p>
          <a:p>
            <a:pPr algn="l">
              <a:lnSpc>
                <a:spcPts val="2863"/>
              </a:lnSpc>
            </a:pPr>
          </a:p>
          <a:p>
            <a:pPr algn="l" marL="475595" indent="-237797" lvl="1">
              <a:lnSpc>
                <a:spcPts val="2863"/>
              </a:lnSpc>
              <a:buFont typeface="Arial"/>
              <a:buChar char="•"/>
            </a:pPr>
            <a:r>
              <a:rPr lang="en-US" sz="2202" spc="11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Ejemplo: Diseñar la estructura de ventas, clientes, inventarios, hacer diagramas de flujo o diccionarios de datos.</a:t>
            </a:r>
          </a:p>
          <a:p>
            <a:pPr algn="l">
              <a:lnSpc>
                <a:spcPts val="2863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8888" r="0" b="-38888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716000"/>
              <a:chOff x="0" y="0"/>
              <a:chExt cx="6097168" cy="342965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097167" cy="3429657"/>
              </a:xfrm>
              <a:custGeom>
                <a:avLst/>
                <a:gdLst/>
                <a:ahLst/>
                <a:cxnLst/>
                <a:rect r="r" b="b" t="t" l="l"/>
                <a:pathLst>
                  <a:path h="3429657" w="6097167">
                    <a:moveTo>
                      <a:pt x="0" y="0"/>
                    </a:moveTo>
                    <a:lnTo>
                      <a:pt x="6097167" y="0"/>
                    </a:lnTo>
                    <a:lnTo>
                      <a:pt x="6097167" y="3429657"/>
                    </a:lnTo>
                    <a:lnTo>
                      <a:pt x="0" y="3429657"/>
                    </a:lnTo>
                    <a:close/>
                  </a:path>
                </a:pathLst>
              </a:custGeom>
              <a:solidFill>
                <a:srgbClr val="000000">
                  <a:alpha val="49804"/>
                </a:srgbClr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097168" cy="3467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5434802" y="685800"/>
            <a:ext cx="7418397" cy="129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7"/>
              </a:lnSpc>
            </a:pPr>
            <a:r>
              <a:rPr lang="en-US" sz="6268" spc="58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Metodología Ágil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471471"/>
            <a:ext cx="7686877" cy="3641958"/>
            <a:chOff x="0" y="0"/>
            <a:chExt cx="10249169" cy="485594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592583"/>
              <a:ext cx="9566942" cy="3263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basa en valores, principios y prácticas, no en pasos rígidos. 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Es flexible, rápida, colaborativa y se adapta a cambios.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Ideal cuando el proyecto es incierto, los requisitos cambian o el cliente no sabe exactamente qué quiere.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33350"/>
              <a:ext cx="10249169" cy="1340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1"/>
                </a:lnSpc>
              </a:pPr>
              <a:r>
                <a:rPr lang="en-US" sz="2405" spc="226">
                  <a:solidFill>
                    <a:srgbClr val="61CDD4"/>
                  </a:solidFill>
                  <a:latin typeface="PT Sans"/>
                  <a:ea typeface="PT Sans"/>
                  <a:cs typeface="PT Sans"/>
                  <a:sym typeface="PT Sans"/>
                </a:rPr>
                <a:t>La metodología ágil es una alternativa o complemento al SDLC tradicional.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72423" y="2471471"/>
            <a:ext cx="7686877" cy="3519977"/>
            <a:chOff x="0" y="0"/>
            <a:chExt cx="10249169" cy="469330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71143"/>
              <a:ext cx="9566942" cy="382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Comunicación: todo el equipo y cliente hablan todo el tiempo.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Simplicidad: hacer solo lo necesario, nada de pasos innecesarios.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Retroalimentación: revisar y corregir continuamente.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Valentía: tomar decisiones, probar cosas nuevas, cambiar si hace falta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33350"/>
              <a:ext cx="10249169" cy="618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1"/>
                </a:lnSpc>
              </a:pPr>
              <a:r>
                <a:rPr lang="en-US" sz="2405" spc="226">
                  <a:solidFill>
                    <a:srgbClr val="61CDD4"/>
                  </a:solidFill>
                  <a:latin typeface="PT Sans"/>
                  <a:ea typeface="PT Sans"/>
                  <a:cs typeface="PT Sans"/>
                  <a:sym typeface="PT Sans"/>
                </a:rPr>
                <a:t>Ls 4 valores de esta metodología son: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608729"/>
            <a:ext cx="7686877" cy="3100877"/>
            <a:chOff x="0" y="0"/>
            <a:chExt cx="10249169" cy="413450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71143"/>
              <a:ext cx="9566942" cy="3263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Cuando hay tiempo, costo, calidad y alcance equilibrados.</a:t>
              </a:r>
            </a:p>
            <a:p>
              <a:pPr algn="just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Cuando se busca entregar resultados rápido, en partes pequeñas.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Cuando se trabaja con equipos pequeños y muy unidos.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133350"/>
              <a:ext cx="10249169" cy="618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1"/>
                </a:lnSpc>
              </a:pPr>
              <a:r>
                <a:rPr lang="en-US" sz="2405" spc="226">
                  <a:solidFill>
                    <a:srgbClr val="61CDD4"/>
                  </a:solidFill>
                  <a:latin typeface="PT Sans"/>
                  <a:ea typeface="PT Sans"/>
                  <a:cs typeface="PT Sans"/>
                  <a:sym typeface="PT Sans"/>
                </a:rPr>
                <a:t>¿Cuando se aplica?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4245" y="40350"/>
            <a:ext cx="18184215" cy="10228621"/>
            <a:chOff x="0" y="0"/>
            <a:chExt cx="24245620" cy="136381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45620" cy="13638161"/>
            </a:xfrm>
            <a:custGeom>
              <a:avLst/>
              <a:gdLst/>
              <a:ahLst/>
              <a:cxnLst/>
              <a:rect r="r" b="b" t="t" l="l"/>
              <a:pathLst>
                <a:path h="13638161" w="24245620">
                  <a:moveTo>
                    <a:pt x="0" y="0"/>
                  </a:moveTo>
                  <a:lnTo>
                    <a:pt x="24245620" y="0"/>
                  </a:lnTo>
                  <a:lnTo>
                    <a:pt x="24245620" y="13638161"/>
                  </a:lnTo>
                  <a:lnTo>
                    <a:pt x="0" y="1363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8888" r="0" b="-38888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4245620" cy="13638161"/>
              <a:chOff x="0" y="0"/>
              <a:chExt cx="4816593" cy="27093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>
                  <a:alpha val="49804"/>
                </a:srgbClr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27474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9948286" y="2440317"/>
            <a:ext cx="7311014" cy="5680611"/>
          </a:xfrm>
          <a:custGeom>
            <a:avLst/>
            <a:gdLst/>
            <a:ahLst/>
            <a:cxnLst/>
            <a:rect r="r" b="b" t="t" l="l"/>
            <a:pathLst>
              <a:path h="5680611" w="7311014">
                <a:moveTo>
                  <a:pt x="0" y="0"/>
                </a:moveTo>
                <a:lnTo>
                  <a:pt x="7311014" y="0"/>
                </a:lnTo>
                <a:lnTo>
                  <a:pt x="7311014" y="5680611"/>
                </a:lnTo>
                <a:lnTo>
                  <a:pt x="0" y="5680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49" t="-121827" r="0" b="-7633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81368"/>
            <a:ext cx="16679915" cy="118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6"/>
              </a:lnSpc>
            </a:pPr>
            <a:r>
              <a:rPr lang="en-US" sz="5700" spc="53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Proceso de desarrollo para un proyecto ágil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1634684"/>
            <a:ext cx="7686877" cy="7291878"/>
            <a:chOff x="0" y="0"/>
            <a:chExt cx="10249169" cy="972250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71143"/>
              <a:ext cx="9566942" cy="8851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Es el ciclo de la metodología ágil, tiene 5 etapas: exploración, planeacion, iteraciones para la liberación de la primera versión, puesta en producción y mantenimiento. 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Este proceso existe para resolver una necesidad o crear una solución tecnológica de forma práctica, eficiente y adaptada.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Su objetivo principal es entregar un producto funcional que aporte valor, y que pueda ir mejorándose con el tiempo.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Su base es trabajar en partes pequeñas, hacerlas bien, probarlas, corregirlas si es necesario y luego seguir avanzando.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Funciona como un ciclo continuo, donde no hay un punto final que cierre todo para siempre, sino un flujo que se repite y mejora constantemente.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33350"/>
              <a:ext cx="10249169" cy="618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1"/>
                </a:lnSpc>
              </a:pPr>
              <a:r>
                <a:rPr lang="en-US" sz="2405" spc="226">
                  <a:solidFill>
                    <a:srgbClr val="61CDD4"/>
                  </a:solidFill>
                  <a:latin typeface="PT Sans"/>
                  <a:ea typeface="PT Sans"/>
                  <a:cs typeface="PT Sans"/>
                  <a:sym typeface="PT Sans"/>
                </a:rPr>
                <a:t>¿Que es esto?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403124" y="4047377"/>
            <a:ext cx="6537145" cy="5538780"/>
          </a:xfrm>
          <a:custGeom>
            <a:avLst/>
            <a:gdLst/>
            <a:ahLst/>
            <a:cxnLst/>
            <a:rect r="r" b="b" t="t" l="l"/>
            <a:pathLst>
              <a:path h="5538780" w="6537145">
                <a:moveTo>
                  <a:pt x="0" y="0"/>
                </a:moveTo>
                <a:lnTo>
                  <a:pt x="6537145" y="0"/>
                </a:lnTo>
                <a:lnTo>
                  <a:pt x="6537145" y="5538780"/>
                </a:lnTo>
                <a:lnTo>
                  <a:pt x="0" y="5538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564" r="0" b="-438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94993" y="771525"/>
            <a:ext cx="11898013" cy="93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3"/>
              </a:lnSpc>
            </a:pPr>
            <a:r>
              <a:rPr lang="en-US" sz="4496" spc="42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EXPLORACIÓN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126211"/>
            <a:ext cx="9374424" cy="7710978"/>
            <a:chOff x="0" y="0"/>
            <a:chExt cx="12499232" cy="1028130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71143"/>
              <a:ext cx="11667232" cy="9410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Es la etapa inicial donde se examina el entorno, se entiende el problema, se definen las ideas generales y se evalúan las tecnologías.</a:t>
              </a:r>
            </a:p>
            <a:p>
              <a:pPr algn="l">
                <a:lnSpc>
                  <a:spcPts val="3347"/>
                </a:lnSpc>
              </a:pP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No se entra en detalles profundos, sino que se busca comprender qué se necesita y si es viable.</a:t>
              </a:r>
            </a:p>
            <a:p>
              <a:pPr algn="l">
                <a:lnSpc>
                  <a:spcPts val="3347"/>
                </a:lnSpc>
              </a:pP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definen las características generales del sistema y las necesidades de los usuarios.</a:t>
              </a:r>
            </a:p>
            <a:p>
              <a:pPr algn="l">
                <a:lnSpc>
                  <a:spcPts val="3347"/>
                </a:lnSpc>
              </a:pP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Se identifican y prueban las tecnologías que se van a usar.</a:t>
              </a: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estima el tiempo requerido para las tareas (puede durar semanas o meses, si es todo nuevo).</a:t>
              </a:r>
            </a:p>
            <a:p>
              <a:pPr algn="l">
                <a:lnSpc>
                  <a:spcPts val="3347"/>
                </a:lnSpc>
              </a:pPr>
            </a:p>
            <a:p>
              <a:pPr algn="l" marL="405999" indent="-203000" lvl="1">
                <a:lnSpc>
                  <a:spcPts val="3347"/>
                </a:lnSpc>
                <a:buFont typeface="Arial"/>
                <a:buChar char="•"/>
              </a:pPr>
              <a:r>
                <a:rPr lang="en-US" sz="1880" spc="17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Los clientes escriben las primeras historias de usuario (descripciones breves de lo que necesitan).</a:t>
              </a:r>
            </a:p>
            <a:p>
              <a:pPr algn="l">
                <a:lnSpc>
                  <a:spcPts val="3347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33350"/>
              <a:ext cx="12499232" cy="618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1"/>
                </a:lnSpc>
              </a:pPr>
              <a:r>
                <a:rPr lang="en-US" sz="2405" spc="226">
                  <a:solidFill>
                    <a:srgbClr val="61CDD4"/>
                  </a:solidFill>
                  <a:latin typeface="PT Sans"/>
                  <a:ea typeface="PT Sans"/>
                  <a:cs typeface="PT Sans"/>
                  <a:sym typeface="PT Sans"/>
                </a:rPr>
                <a:t>¿Que  se realiza en esta etapa?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84094" y="2738781"/>
            <a:ext cx="7175206" cy="794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5999" indent="-203000" lvl="1">
              <a:lnSpc>
                <a:spcPts val="3347"/>
              </a:lnSpc>
              <a:buFont typeface="Arial"/>
              <a:buChar char="•"/>
            </a:pPr>
            <a:r>
              <a:rPr lang="en-US" sz="1880" spc="176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 ajusta la actitud: curiosidad, adaptabilidad y apertura al cambio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052288" y="4325826"/>
            <a:ext cx="6635049" cy="4932474"/>
          </a:xfrm>
          <a:custGeom>
            <a:avLst/>
            <a:gdLst/>
            <a:ahLst/>
            <a:cxnLst/>
            <a:rect r="r" b="b" t="t" l="l"/>
            <a:pathLst>
              <a:path h="4932474" w="6635049">
                <a:moveTo>
                  <a:pt x="0" y="0"/>
                </a:moveTo>
                <a:lnTo>
                  <a:pt x="6635049" y="0"/>
                </a:lnTo>
                <a:lnTo>
                  <a:pt x="6635049" y="4932474"/>
                </a:lnTo>
                <a:lnTo>
                  <a:pt x="0" y="4932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678" r="0" b="-3967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94993" y="771525"/>
            <a:ext cx="11898013" cy="93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3"/>
              </a:lnSpc>
            </a:pPr>
            <a:r>
              <a:rPr lang="en-US" sz="4496" spc="42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PLANIFICACIÓN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8808" y="2354902"/>
            <a:ext cx="8122434" cy="6889009"/>
            <a:chOff x="0" y="0"/>
            <a:chExt cx="10829912" cy="918534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04201"/>
              <a:ext cx="10109029" cy="8481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3381"/>
                </a:lnSpc>
                <a:buFont typeface="Arial"/>
                <a:buChar char="•"/>
              </a:pPr>
              <a:r>
                <a:rPr lang="en-US" sz="1899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Etapa donde se organiza el trabajo, se acuerdan prioridades, tiempos y alcance.</a:t>
              </a:r>
            </a:p>
            <a:p>
              <a:pPr algn="l">
                <a:lnSpc>
                  <a:spcPts val="3381"/>
                </a:lnSpc>
              </a:pPr>
            </a:p>
            <a:p>
              <a:pPr algn="l" marL="410209" indent="-205105" lvl="1">
                <a:lnSpc>
                  <a:spcPts val="3381"/>
                </a:lnSpc>
                <a:buFont typeface="Arial"/>
                <a:buChar char="•"/>
              </a:pPr>
              <a:r>
                <a:rPr lang="en-US" sz="1899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define qué se va a hacer, cuándo y en qué orden.</a:t>
              </a:r>
            </a:p>
            <a:p>
              <a:pPr algn="l">
                <a:lnSpc>
                  <a:spcPts val="3381"/>
                </a:lnSpc>
              </a:pPr>
            </a:p>
            <a:p>
              <a:pPr algn="l" marL="410209" indent="-205105" lvl="1">
                <a:lnSpc>
                  <a:spcPts val="3381"/>
                </a:lnSpc>
                <a:buFont typeface="Arial"/>
                <a:buChar char="•"/>
              </a:pPr>
              <a:r>
                <a:rPr lang="en-US" sz="1899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acuerda una fecha límite, que puede modificarse si es necesario.</a:t>
              </a:r>
            </a:p>
            <a:p>
              <a:pPr algn="l">
                <a:lnSpc>
                  <a:spcPts val="3381"/>
                </a:lnSpc>
              </a:pPr>
            </a:p>
            <a:p>
              <a:pPr algn="l" marL="410209" indent="-205105" lvl="1">
                <a:lnSpc>
                  <a:spcPts val="3381"/>
                </a:lnSpc>
                <a:buFont typeface="Arial"/>
                <a:buChar char="•"/>
              </a:pPr>
              <a:r>
                <a:rPr lang="en-US" sz="1899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ordenan las historias o requisitos por importancia.</a:t>
              </a:r>
            </a:p>
            <a:p>
              <a:pPr algn="l">
                <a:lnSpc>
                  <a:spcPts val="3381"/>
                </a:lnSpc>
              </a:pPr>
            </a:p>
            <a:p>
              <a:pPr algn="l" marL="410209" indent="-205105" lvl="1">
                <a:lnSpc>
                  <a:spcPts val="3381"/>
                </a:lnSpc>
                <a:buFont typeface="Arial"/>
                <a:buChar char="•"/>
              </a:pPr>
              <a:r>
                <a:rPr lang="en-US" sz="1899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acepta la incertidumbre: siempre hay cosas que pueden cambiar.</a:t>
              </a:r>
            </a:p>
            <a:p>
              <a:pPr algn="l">
                <a:lnSpc>
                  <a:spcPts val="3381"/>
                </a:lnSpc>
              </a:pPr>
            </a:p>
            <a:p>
              <a:pPr algn="l" marL="410209" indent="-205105" lvl="1">
                <a:lnSpc>
                  <a:spcPts val="3381"/>
                </a:lnSpc>
                <a:buFont typeface="Arial"/>
                <a:buChar char="•"/>
              </a:pPr>
              <a:r>
                <a:rPr lang="en-US" sz="1899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Los protagonistas son el equipo de desarrollo y el cliente empresarial.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14300"/>
              <a:ext cx="10829912" cy="530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7"/>
                </a:lnSpc>
              </a:pPr>
              <a:r>
                <a:rPr lang="en-US" sz="2099" spc="197">
                  <a:solidFill>
                    <a:srgbClr val="61CDD4"/>
                  </a:solidFill>
                  <a:latin typeface="PT Sans"/>
                  <a:ea typeface="PT Sans"/>
                  <a:cs typeface="PT Sans"/>
                  <a:sym typeface="PT Sans"/>
                </a:rPr>
                <a:t>¿Que se realiza en esta etapa?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876831" y="2866794"/>
            <a:ext cx="6810506" cy="81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381"/>
              </a:lnSpc>
              <a:buFont typeface="Arial"/>
              <a:buChar char="•"/>
            </a:pPr>
            <a:r>
              <a:rPr lang="en-US" sz="1899" spc="178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 usan "tarjetas de historias": resúmenes breves de cada tarea o característica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624251" y="3255587"/>
            <a:ext cx="6635049" cy="4932474"/>
          </a:xfrm>
          <a:custGeom>
            <a:avLst/>
            <a:gdLst/>
            <a:ahLst/>
            <a:cxnLst/>
            <a:rect r="r" b="b" t="t" l="l"/>
            <a:pathLst>
              <a:path h="4932474" w="6635049">
                <a:moveTo>
                  <a:pt x="0" y="0"/>
                </a:moveTo>
                <a:lnTo>
                  <a:pt x="6635049" y="0"/>
                </a:lnTo>
                <a:lnTo>
                  <a:pt x="6635049" y="4932475"/>
                </a:lnTo>
                <a:lnTo>
                  <a:pt x="0" y="49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678" r="0" b="-3967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0962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9"/>
              </a:lnSpc>
            </a:pPr>
            <a:r>
              <a:rPr lang="en-US" sz="3999" spc="37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ITERACIONES PARA LA LIBERACIÓN DE LA PRIMERA VERSIÓN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185349"/>
            <a:ext cx="8900270" cy="7352749"/>
            <a:chOff x="0" y="0"/>
            <a:chExt cx="11867027" cy="98036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79210"/>
              <a:ext cx="11077108" cy="8924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9389" indent="-204694" lvl="1">
                <a:lnSpc>
                  <a:spcPts val="3375"/>
                </a:lnSpc>
                <a:buFont typeface="Arial"/>
                <a:buChar char="•"/>
              </a:pPr>
              <a:r>
                <a:rPr lang="en-US" sz="1896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Es la etapa de construcción y desarrollo real. Se divide el trabajo en ciclos cortos donde se construye, prueba, corrige y mejora, hasta tener una versión funcional para entregar.</a:t>
              </a:r>
            </a:p>
            <a:p>
              <a:pPr algn="l">
                <a:lnSpc>
                  <a:spcPts val="3375"/>
                </a:lnSpc>
              </a:pPr>
            </a:p>
            <a:p>
              <a:pPr algn="l" marL="409389" indent="-204694" lvl="1">
                <a:lnSpc>
                  <a:spcPts val="3375"/>
                </a:lnSpc>
                <a:buFont typeface="Arial"/>
                <a:buChar char="•"/>
              </a:pPr>
              <a:r>
                <a:rPr lang="en-US" sz="1896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Ciclos repetitivos: construir → probar → corregir → ajustar.</a:t>
              </a:r>
            </a:p>
            <a:p>
              <a:pPr algn="l">
                <a:lnSpc>
                  <a:spcPts val="3375"/>
                </a:lnSpc>
              </a:pPr>
            </a:p>
            <a:p>
              <a:pPr algn="l" marL="409389" indent="-204694" lvl="1">
                <a:lnSpc>
                  <a:spcPts val="3375"/>
                </a:lnSpc>
                <a:buFont typeface="Arial"/>
                <a:buChar char="•"/>
              </a:pPr>
              <a:r>
                <a:rPr lang="en-US" sz="1896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va armando la estructura y luego los detalles.</a:t>
              </a:r>
            </a:p>
            <a:p>
              <a:pPr algn="l">
                <a:lnSpc>
                  <a:spcPts val="3375"/>
                </a:lnSpc>
              </a:pPr>
            </a:p>
            <a:p>
              <a:pPr algn="l" marL="409389" indent="-204694" lvl="1">
                <a:lnSpc>
                  <a:spcPts val="3375"/>
                </a:lnSpc>
                <a:buFont typeface="Arial"/>
                <a:buChar char="•"/>
              </a:pPr>
              <a:r>
                <a:rPr lang="en-US" sz="1896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Se revisa si se cumplen las expectativas del cliente.</a:t>
              </a:r>
            </a:p>
            <a:p>
              <a:pPr algn="l">
                <a:lnSpc>
                  <a:spcPts val="3375"/>
                </a:lnSpc>
              </a:pPr>
            </a:p>
            <a:p>
              <a:pPr algn="l" marL="409389" indent="-204694" lvl="1">
                <a:lnSpc>
                  <a:spcPts val="3375"/>
                </a:lnSpc>
                <a:buFont typeface="Arial"/>
                <a:buChar char="•"/>
              </a:pPr>
              <a:r>
                <a:rPr lang="en-US" sz="1896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corrige el rumbo si es necesario, sin miedo a cambiar el plan.</a:t>
              </a:r>
            </a:p>
            <a:p>
              <a:pPr algn="l">
                <a:lnSpc>
                  <a:spcPts val="3375"/>
                </a:lnSpc>
              </a:pPr>
            </a:p>
            <a:p>
              <a:pPr algn="l" marL="409389" indent="-204694" lvl="1">
                <a:lnSpc>
                  <a:spcPts val="3375"/>
                </a:lnSpc>
                <a:buFont typeface="Arial"/>
                <a:buChar char="•"/>
              </a:pPr>
              <a:r>
                <a:rPr lang="en-US" sz="1896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Se celebra el avance continuo, aunque sea pequeño.</a:t>
              </a:r>
            </a:p>
            <a:p>
              <a:pPr algn="l">
                <a:lnSpc>
                  <a:spcPts val="3375"/>
                </a:lnSpc>
              </a:pPr>
            </a:p>
            <a:p>
              <a:pPr algn="l" marL="409389" indent="-204694" lvl="1">
                <a:lnSpc>
                  <a:spcPts val="3375"/>
                </a:lnSpc>
                <a:buFont typeface="Arial"/>
                <a:buChar char="•"/>
              </a:pPr>
              <a:r>
                <a:rPr lang="en-US" sz="1896" spc="17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El equipo trabaja en conjunto, se motiva mutuamente.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42875"/>
              <a:ext cx="11867027" cy="632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16"/>
                </a:lnSpc>
              </a:pPr>
              <a:r>
                <a:rPr lang="en-US" sz="2425" spc="227">
                  <a:solidFill>
                    <a:srgbClr val="61CDD4"/>
                  </a:solidFill>
                  <a:latin typeface="PT Sans"/>
                  <a:ea typeface="PT Sans"/>
                  <a:cs typeface="PT Sans"/>
                  <a:sym typeface="PT Sans"/>
                </a:rPr>
                <a:t>¿Que se realiza en esta etapa?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38661" y="3385378"/>
            <a:ext cx="6635049" cy="4932474"/>
          </a:xfrm>
          <a:custGeom>
            <a:avLst/>
            <a:gdLst/>
            <a:ahLst/>
            <a:cxnLst/>
            <a:rect r="r" b="b" t="t" l="l"/>
            <a:pathLst>
              <a:path h="4932474" w="6635049">
                <a:moveTo>
                  <a:pt x="0" y="0"/>
                </a:moveTo>
                <a:lnTo>
                  <a:pt x="6635049" y="0"/>
                </a:lnTo>
                <a:lnTo>
                  <a:pt x="6635049" y="4932475"/>
                </a:lnTo>
                <a:lnTo>
                  <a:pt x="0" y="49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678" r="0" b="-3967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94993" y="771525"/>
            <a:ext cx="11898013" cy="93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3"/>
              </a:lnSpc>
            </a:pPr>
            <a:r>
              <a:rPr lang="en-US" sz="4496" spc="42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PUESTA EN PRODUCCIÓN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444931"/>
            <a:ext cx="8115300" cy="6813369"/>
            <a:chOff x="0" y="0"/>
            <a:chExt cx="10820400" cy="908449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15479"/>
              <a:ext cx="10100149" cy="8169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8628" indent="-214314" lvl="1">
                <a:lnSpc>
                  <a:spcPts val="3533"/>
                </a:lnSpc>
                <a:buFont typeface="Arial"/>
                <a:buChar char="•"/>
              </a:pPr>
              <a:r>
                <a:rPr lang="en-US" sz="1985" spc="18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Momento en el que se entrega el sistema al usuario final, se pone en funcionamiento real y se empieza a usar.</a:t>
              </a:r>
            </a:p>
            <a:p>
              <a:pPr algn="l">
                <a:lnSpc>
                  <a:spcPts val="3533"/>
                </a:lnSpc>
              </a:pPr>
            </a:p>
            <a:p>
              <a:pPr algn="l" marL="428628" indent="-214314" lvl="1">
                <a:lnSpc>
                  <a:spcPts val="3533"/>
                </a:lnSpc>
                <a:buFont typeface="Arial"/>
                <a:buChar char="•"/>
              </a:pPr>
              <a:r>
                <a:rPr lang="en-US" sz="1985" spc="18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Ciclos cortos de revisión y retroalimentación (cada semana o pocas semanas).</a:t>
              </a:r>
            </a:p>
            <a:p>
              <a:pPr algn="l">
                <a:lnSpc>
                  <a:spcPts val="3533"/>
                </a:lnSpc>
              </a:pPr>
            </a:p>
            <a:p>
              <a:pPr algn="l" marL="428628" indent="-214314" lvl="1">
                <a:lnSpc>
                  <a:spcPts val="3533"/>
                </a:lnSpc>
                <a:buFont typeface="Arial"/>
                <a:buChar char="•"/>
              </a:pPr>
              <a:r>
                <a:rPr lang="en-US" sz="1985" spc="18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agregan características nuevas o se mejoran las existentes.</a:t>
              </a:r>
            </a:p>
            <a:p>
              <a:pPr algn="l">
                <a:lnSpc>
                  <a:spcPts val="3533"/>
                </a:lnSpc>
              </a:pPr>
            </a:p>
            <a:p>
              <a:pPr algn="l" marL="428628" indent="-214314" lvl="1">
                <a:lnSpc>
                  <a:spcPts val="3533"/>
                </a:lnSpc>
                <a:buFont typeface="Arial"/>
                <a:buChar char="•"/>
              </a:pPr>
              <a:r>
                <a:rPr lang="en-US" sz="1985" spc="18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acepta que siempre se puede mejorar.</a:t>
              </a:r>
            </a:p>
            <a:p>
              <a:pPr algn="l">
                <a:lnSpc>
                  <a:spcPts val="3533"/>
                </a:lnSpc>
              </a:pPr>
            </a:p>
            <a:p>
              <a:pPr algn="l" marL="428628" indent="-214314" lvl="1">
                <a:lnSpc>
                  <a:spcPts val="3533"/>
                </a:lnSpc>
                <a:buFont typeface="Arial"/>
                <a:buChar char="•"/>
              </a:pPr>
              <a:r>
                <a:rPr lang="en-US" sz="1985" spc="18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Espíritu positivo: "desarrollar sistemas nos debe divertir".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42875"/>
              <a:ext cx="10820400" cy="655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9"/>
                </a:lnSpc>
              </a:pPr>
              <a:r>
                <a:rPr lang="en-US" sz="2539" spc="238">
                  <a:solidFill>
                    <a:srgbClr val="61CDD4"/>
                  </a:solidFill>
                  <a:latin typeface="PT Sans"/>
                  <a:ea typeface="PT Sans"/>
                  <a:cs typeface="PT Sans"/>
                  <a:sym typeface="PT Sans"/>
                </a:rPr>
                <a:t>¿Que se realiza en esta etapa?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121675" y="2677263"/>
            <a:ext cx="6635049" cy="4932474"/>
          </a:xfrm>
          <a:custGeom>
            <a:avLst/>
            <a:gdLst/>
            <a:ahLst/>
            <a:cxnLst/>
            <a:rect r="r" b="b" t="t" l="l"/>
            <a:pathLst>
              <a:path h="4932474" w="6635049">
                <a:moveTo>
                  <a:pt x="0" y="0"/>
                </a:moveTo>
                <a:lnTo>
                  <a:pt x="6635049" y="0"/>
                </a:lnTo>
                <a:lnTo>
                  <a:pt x="6635049" y="4932474"/>
                </a:lnTo>
                <a:lnTo>
                  <a:pt x="0" y="4932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678" r="0" b="-3967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94993" y="771525"/>
            <a:ext cx="11898013" cy="93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3"/>
              </a:lnSpc>
            </a:pPr>
            <a:r>
              <a:rPr lang="en-US" sz="4496" spc="42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MANTENIMIENTO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1954921"/>
            <a:ext cx="7699001" cy="7303379"/>
            <a:chOff x="0" y="0"/>
            <a:chExt cx="10265335" cy="973783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72667"/>
              <a:ext cx="9582031" cy="8865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6640" indent="-203320" lvl="1">
                <a:lnSpc>
                  <a:spcPts val="3352"/>
                </a:lnSpc>
                <a:buFont typeface="Arial"/>
                <a:buChar char="•"/>
              </a:pPr>
              <a:r>
                <a:rPr lang="en-US" sz="1883" spc="177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Etapa continua donde se asegura que el sistema siga funcionando bien.</a:t>
              </a:r>
            </a:p>
            <a:p>
              <a:pPr algn="l">
                <a:lnSpc>
                  <a:spcPts val="3352"/>
                </a:lnSpc>
              </a:pPr>
            </a:p>
            <a:p>
              <a:pPr algn="l" marL="406640" indent="-203320" lvl="1">
                <a:lnSpc>
                  <a:spcPts val="3352"/>
                </a:lnSpc>
                <a:buFont typeface="Arial"/>
                <a:buChar char="•"/>
              </a:pPr>
              <a:r>
                <a:rPr lang="en-US" sz="1883" spc="177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Corrección de errores y solución de problemas.</a:t>
              </a:r>
            </a:p>
            <a:p>
              <a:pPr algn="l">
                <a:lnSpc>
                  <a:spcPts val="3352"/>
                </a:lnSpc>
              </a:pPr>
            </a:p>
            <a:p>
              <a:pPr algn="l" marL="406640" indent="-203320" lvl="1">
                <a:lnSpc>
                  <a:spcPts val="3352"/>
                </a:lnSpc>
                <a:buFont typeface="Arial"/>
                <a:buChar char="•"/>
              </a:pPr>
              <a:r>
                <a:rPr lang="en-US" sz="1883" spc="177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Incorporación de nuevas características o mejoras.</a:t>
              </a:r>
            </a:p>
            <a:p>
              <a:pPr algn="l">
                <a:lnSpc>
                  <a:spcPts val="3352"/>
                </a:lnSpc>
              </a:pPr>
            </a:p>
            <a:p>
              <a:pPr algn="l" marL="406640" indent="-203320" lvl="1">
                <a:lnSpc>
                  <a:spcPts val="3352"/>
                </a:lnSpc>
                <a:buFont typeface="Arial"/>
                <a:buChar char="•"/>
              </a:pPr>
              <a:r>
                <a:rPr lang="en-US" sz="1883" spc="177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Revisión continua de procesos y tecnologías.</a:t>
              </a:r>
            </a:p>
            <a:p>
              <a:pPr algn="l">
                <a:lnSpc>
                  <a:spcPts val="3352"/>
                </a:lnSpc>
              </a:pPr>
            </a:p>
            <a:p>
              <a:pPr algn="l" marL="406640" indent="-203320" lvl="1">
                <a:lnSpc>
                  <a:spcPts val="3352"/>
                </a:lnSpc>
                <a:buFont typeface="Arial"/>
                <a:buChar char="•"/>
              </a:pPr>
              <a:r>
                <a:rPr lang="en-US" sz="1883" spc="177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El equipo pasa a ser "guardián y curioso", siempre atento a mejoras.</a:t>
              </a:r>
            </a:p>
            <a:p>
              <a:pPr algn="l">
                <a:lnSpc>
                  <a:spcPts val="3352"/>
                </a:lnSpc>
              </a:pPr>
            </a:p>
            <a:p>
              <a:pPr algn="l" marL="406640" indent="-203320" lvl="1">
                <a:lnSpc>
                  <a:spcPts val="3352"/>
                </a:lnSpc>
                <a:buFont typeface="Arial"/>
                <a:buChar char="•"/>
              </a:pPr>
              <a:r>
                <a:rPr lang="en-US" sz="1883" spc="177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Se vuelve a revisar lo que se necesita, como si se volviera a explorar.</a:t>
              </a:r>
            </a:p>
            <a:p>
              <a:pPr algn="l">
                <a:lnSpc>
                  <a:spcPts val="3352"/>
                </a:lnSpc>
              </a:pPr>
            </a:p>
            <a:p>
              <a:pPr algn="l">
                <a:lnSpc>
                  <a:spcPts val="3352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33350"/>
              <a:ext cx="10265335" cy="619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7"/>
                </a:lnSpc>
              </a:pPr>
              <a:r>
                <a:rPr lang="en-US" sz="2408" spc="226">
                  <a:solidFill>
                    <a:srgbClr val="61CDD4"/>
                  </a:solidFill>
                  <a:latin typeface="PT Sans"/>
                  <a:ea typeface="PT Sans"/>
                  <a:cs typeface="PT Sans"/>
                  <a:sym typeface="PT Sans"/>
                </a:rPr>
                <a:t>¿Que se realiza en esta etapa?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1656000" y="0"/>
            <a:ext cx="10800000" cy="10287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9144000" y="0"/>
            <a:ext cx="10800000" cy="10287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744000" y="4852676"/>
            <a:ext cx="10800000" cy="112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0"/>
              </a:lnSpc>
              <a:spcBef>
                <a:spcPct val="0"/>
              </a:spcBef>
            </a:pPr>
            <a:r>
              <a:rPr lang="en-US" b="true" sz="9851" spc="1852">
                <a:solidFill>
                  <a:srgbClr val="72A4B1">
                    <a:alpha val="89804"/>
                  </a:srgbClr>
                </a:solidFill>
                <a:latin typeface="HK Modular"/>
                <a:ea typeface="HK Modular"/>
                <a:cs typeface="HK Modular"/>
                <a:sym typeface="HK Modular"/>
              </a:rPr>
              <a:t>GRACIELA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DAHJmxESu4g</dc:identifier>
  <dcterms:modified xsi:type="dcterms:W3CDTF">2011-08-01T06:04:30Z</dcterms:modified>
  <cp:revision>1</cp:revision>
  <dc:title>Blu Verde Moderno Futuristico Era Digitale Presentazione </dc:title>
</cp:coreProperties>
</file>